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9"/>
  </p:notesMasterIdLst>
  <p:handoutMasterIdLst>
    <p:handoutMasterId r:id="rId40"/>
  </p:handoutMasterIdLst>
  <p:sldIdLst>
    <p:sldId id="335" r:id="rId2"/>
    <p:sldId id="418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5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56" r:id="rId30"/>
    <p:sldId id="454" r:id="rId31"/>
    <p:sldId id="447" r:id="rId32"/>
    <p:sldId id="448" r:id="rId33"/>
    <p:sldId id="449" r:id="rId34"/>
    <p:sldId id="450" r:id="rId35"/>
    <p:sldId id="451" r:id="rId36"/>
    <p:sldId id="452" r:id="rId37"/>
    <p:sldId id="453" r:id="rId38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>
        <p:scale>
          <a:sx n="96" d="100"/>
          <a:sy n="96" d="100"/>
        </p:scale>
        <p:origin x="1842" y="46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  <a:pPr algn="r"/>
              <a:t>3</a:t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3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4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8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5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180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8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1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7E4010D-B469-485C-9478-EC8472477B61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24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86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7DE4E5-79F5-4AF4-9119-D11AC2C04ADD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3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BAA96B3-F44A-462E-9F3B-FC947B143EC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41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13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8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7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16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3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17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8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20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89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362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22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34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0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24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39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  <a:pPr algn="r"/>
              <a:t>25</a:t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9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26</a:t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19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  <a:pPr algn="r"/>
              <a:t>27</a:t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12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28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35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30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032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8F6CFE8-F4B8-4635-B9A3-190ADFF2F8A1}" type="slidenum">
              <a:rPr lang="en-US" altLang="en-US" sz="1200"/>
              <a:pPr algn="r"/>
              <a:t>31</a:t>
            </a:fld>
            <a:endParaRPr lang="en-US" altLang="en-US" sz="1200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978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32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48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33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20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  <a:pPr algn="r"/>
              <a:t>34</a:t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728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  <a:pPr algn="r"/>
              <a:t>35</a:t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16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  <a:pPr algn="r"/>
              <a:t>36</a:t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332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4F48141-AC33-4BB4-B9B9-0E58D9A72CB1}" type="slidenum">
              <a:rPr lang="en-US" altLang="en-US" sz="1200"/>
              <a:pPr algn="r"/>
              <a:t>37</a:t>
            </a:fld>
            <a:endParaRPr lang="en-US" altLang="en-US" sz="1200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8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1700" dirty="0"/>
              <a:t>Database-System Applications</a:t>
            </a:r>
          </a:p>
          <a:p>
            <a:pPr indent="-365760"/>
            <a:r>
              <a:rPr lang="en-US" altLang="en-US" sz="1700" dirty="0"/>
              <a:t>Purpose of Database Systems</a:t>
            </a:r>
          </a:p>
          <a:p>
            <a:pPr indent="-365760"/>
            <a:r>
              <a:rPr lang="en-US" altLang="en-US" sz="1700" dirty="0"/>
              <a:t>View of Data</a:t>
            </a:r>
          </a:p>
          <a:p>
            <a:pPr indent="-365760"/>
            <a:r>
              <a:rPr lang="en-US" altLang="en-US" sz="1700" dirty="0"/>
              <a:t>Database Languages</a:t>
            </a:r>
          </a:p>
          <a:p>
            <a:pPr indent="-365760"/>
            <a:r>
              <a:rPr lang="en-US" altLang="en-US" sz="1700" dirty="0"/>
              <a:t>Database Design</a:t>
            </a:r>
          </a:p>
          <a:p>
            <a:pPr indent="-365760"/>
            <a:r>
              <a:rPr lang="en-US" altLang="en-US" sz="1700" dirty="0"/>
              <a:t>Database Engine</a:t>
            </a:r>
          </a:p>
          <a:p>
            <a:pPr indent="-365760"/>
            <a:r>
              <a:rPr lang="en-US" altLang="en-US" sz="1700" dirty="0"/>
              <a:t>Database Architecture</a:t>
            </a:r>
          </a:p>
          <a:p>
            <a:pPr indent="-365760"/>
            <a:r>
              <a:rPr lang="en-US" altLang="en-US" sz="1700" dirty="0"/>
              <a:t>Database Users and Administrators</a:t>
            </a:r>
          </a:p>
          <a:p>
            <a:pPr indent="-365760"/>
            <a:r>
              <a:rPr lang="en-US" altLang="en-US" sz="1700" dirty="0"/>
              <a:t>History of Database Systems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Systems</a:t>
            </a:r>
            <a:endParaRPr lang="en-US" altLang="en-US" sz="3200" dirty="0">
              <a:effectLst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4"/>
            <a:ext cx="7400290" cy="4903787"/>
          </a:xfrm>
        </p:spPr>
        <p:txBody>
          <a:bodyPr/>
          <a:lstStyle/>
          <a:p>
            <a:pPr indent="-365760"/>
            <a:r>
              <a:rPr lang="en-US" altLang="en-US" sz="1700" dirty="0"/>
              <a:t>DBMS contains information about a particular enterprise</a:t>
            </a:r>
          </a:p>
          <a:p>
            <a:pPr lvl="1"/>
            <a:r>
              <a:rPr lang="en-US" altLang="en-US" sz="1700" dirty="0"/>
              <a:t>Collection of interrelated data</a:t>
            </a:r>
          </a:p>
          <a:p>
            <a:pPr lvl="1"/>
            <a:r>
              <a:rPr lang="en-US" altLang="en-US" sz="1700" dirty="0"/>
              <a:t>Set of programs to access the data </a:t>
            </a:r>
          </a:p>
          <a:p>
            <a:pPr lvl="1"/>
            <a:r>
              <a:rPr lang="en-US" altLang="en-US" sz="1700" dirty="0"/>
              <a:t>An environment that is both </a:t>
            </a:r>
            <a:r>
              <a:rPr lang="en-US" altLang="en-US" sz="1700" i="1" dirty="0"/>
              <a:t>convenient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efficient</a:t>
            </a:r>
            <a:r>
              <a:rPr lang="en-US" altLang="en-US" sz="1700" dirty="0"/>
              <a:t> to use</a:t>
            </a:r>
          </a:p>
          <a:p>
            <a:pPr indent="-365760"/>
            <a:r>
              <a:rPr lang="en-US" altLang="en-US" sz="1700" dirty="0"/>
              <a:t>Database systems are used to manage collections of data that are:</a:t>
            </a:r>
          </a:p>
          <a:p>
            <a:pPr lvl="1"/>
            <a:r>
              <a:rPr lang="en-US" altLang="en-US" sz="1700" dirty="0"/>
              <a:t>Highly valuable</a:t>
            </a:r>
          </a:p>
          <a:p>
            <a:pPr lvl="1"/>
            <a:r>
              <a:rPr lang="en-US" altLang="en-US" sz="1700" dirty="0"/>
              <a:t>Relatively large</a:t>
            </a:r>
          </a:p>
          <a:p>
            <a:pPr lvl="1"/>
            <a:r>
              <a:rPr lang="en-US" altLang="en-US" sz="1700" dirty="0"/>
              <a:t>Accessed by multiple users and applications, often at the same time.</a:t>
            </a:r>
          </a:p>
          <a:p>
            <a:pPr marL="365760" indent="-365760"/>
            <a:r>
              <a:rPr lang="en-US" altLang="en-US" sz="1700" dirty="0"/>
              <a:t>A modern database system is a complex software system whose task is to manage a large, complex collection of data.</a:t>
            </a:r>
          </a:p>
          <a:p>
            <a:pPr indent="-365760"/>
            <a:r>
              <a:rPr lang="en-US" sz="1700" dirty="0">
                <a:ea typeface="ＭＳ Ｐゴシック" pitchFamily="34" charset="-128"/>
              </a:rPr>
              <a:t>Databases touch all aspects of our lives</a:t>
            </a:r>
          </a:p>
          <a:p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0831"/>
            <a:ext cx="7576659" cy="4860170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Enterprise Information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Sales: customers, products, purchases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Accounting: payments, receipts, assets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Human Resources: Information about employees, salaries, payroll taxes.</a:t>
            </a:r>
          </a:p>
          <a:p>
            <a:r>
              <a:rPr lang="en-US" sz="1700" dirty="0">
                <a:ea typeface="ＭＳ Ｐゴシック" pitchFamily="34" charset="-128"/>
              </a:rPr>
              <a:t>Manufacturing: management of production, inventory, orders, supply chain.</a:t>
            </a:r>
          </a:p>
          <a:p>
            <a:r>
              <a:rPr lang="en-US" sz="1700" dirty="0">
                <a:ea typeface="ＭＳ Ｐゴシック" pitchFamily="34" charset="-128"/>
              </a:rPr>
              <a:t>Banking and finance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customer information, accounts, loans, and banking transactions.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Credit card transactions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Finance:  sales and purchases of financial instruments (e.g., stocks and bonds; storing real-time market data</a:t>
            </a:r>
          </a:p>
          <a:p>
            <a:r>
              <a:rPr lang="en-US" sz="1700" dirty="0">
                <a:ea typeface="ＭＳ Ｐゴシック" pitchFamily="34" charset="-128"/>
              </a:rPr>
              <a:t>Universities:  registration, grades</a:t>
            </a: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 (Cont.)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54603" y="1093790"/>
            <a:ext cx="7617040" cy="4903787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Airlines: reservations, schedules</a:t>
            </a:r>
          </a:p>
          <a:p>
            <a:r>
              <a:rPr lang="en-US" sz="1700" dirty="0">
                <a:ea typeface="ＭＳ Ｐゴシック" pitchFamily="34" charset="-128"/>
              </a:rPr>
              <a:t>Telecommunication: records of calls, texts, and data usage, generating monthly bills, maintaining balances on prepaid calling cards</a:t>
            </a:r>
          </a:p>
          <a:p>
            <a:r>
              <a:rPr lang="en-US" sz="1700" dirty="0">
                <a:ea typeface="ＭＳ Ｐゴシック" pitchFamily="34" charset="-128"/>
              </a:rPr>
              <a:t>Web-based services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retailers: order tracking, customized recommendations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advertisements</a:t>
            </a:r>
          </a:p>
          <a:p>
            <a:r>
              <a:rPr lang="en-US" sz="1700" dirty="0">
                <a:ea typeface="ＭＳ Ｐゴシック" pitchFamily="34" charset="-128"/>
              </a:rPr>
              <a:t>Document databases</a:t>
            </a:r>
          </a:p>
          <a:p>
            <a:r>
              <a:rPr lang="en-US" sz="1700" dirty="0">
                <a:ea typeface="ＭＳ Ｐゴシック" pitchFamily="34" charset="-128"/>
              </a:rPr>
              <a:t>Navigation systems: For maintaining the locations of varies places of interest along with the exact routes of roads, train systems, buses, etc.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1074198" y="1851328"/>
            <a:ext cx="7315199" cy="3988640"/>
          </a:xfrm>
        </p:spPr>
        <p:txBody>
          <a:bodyPr/>
          <a:lstStyle/>
          <a:p>
            <a:r>
              <a:rPr lang="en-US" altLang="en-US" sz="1700" dirty="0"/>
              <a:t>Data redundancy and inconsistency: data is stored  in multiple file formats resulting induplication of information in different files</a:t>
            </a:r>
          </a:p>
          <a:p>
            <a:r>
              <a:rPr lang="en-US" altLang="en-US" sz="1700" dirty="0"/>
              <a:t>Difficulty in accessing data </a:t>
            </a:r>
          </a:p>
          <a:p>
            <a:pPr lvl="1"/>
            <a:r>
              <a:rPr lang="en-US" altLang="en-US" sz="1700" dirty="0"/>
              <a:t>Need to write a new program to carry out each new task</a:t>
            </a:r>
          </a:p>
          <a:p>
            <a:r>
              <a:rPr lang="en-US" altLang="en-US" sz="1700" dirty="0"/>
              <a:t>Data isolation </a:t>
            </a:r>
          </a:p>
          <a:p>
            <a:pPr lvl="1"/>
            <a:r>
              <a:rPr lang="en-US" altLang="en-US" sz="1700" dirty="0"/>
              <a:t>Multiple files and formats</a:t>
            </a:r>
          </a:p>
          <a:p>
            <a:r>
              <a:rPr lang="en-US" altLang="en-US" sz="1700" dirty="0"/>
              <a:t>Integrity problems</a:t>
            </a:r>
          </a:p>
          <a:p>
            <a:pPr lvl="1"/>
            <a:r>
              <a:rPr lang="en-US" altLang="en-US" sz="1700" dirty="0"/>
              <a:t>Integrity constraints  (e.g., account balance &gt; 0) become </a:t>
            </a:r>
            <a:r>
              <a:rPr lang="ja-JP" altLang="en-US" sz="1700" dirty="0"/>
              <a:t>“</a:t>
            </a:r>
            <a:r>
              <a:rPr lang="en-US" altLang="ja-JP" sz="1700" dirty="0"/>
              <a:t>buried</a:t>
            </a:r>
            <a:r>
              <a:rPr lang="ja-JP" altLang="en-US" sz="1700" dirty="0"/>
              <a:t>”</a:t>
            </a:r>
            <a:r>
              <a:rPr lang="en-US" altLang="ja-JP" sz="1700" dirty="0"/>
              <a:t> in program code rather than being stated explicitly</a:t>
            </a:r>
          </a:p>
          <a:p>
            <a:pPr lvl="1"/>
            <a:r>
              <a:rPr lang="en-US" altLang="en-US" sz="1700" dirty="0"/>
              <a:t>Hard to add new constraints or change existing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700" dirty="0">
                <a:latin typeface="+mn-lt"/>
                <a:cs typeface="ＭＳ Ｐゴシック" charset="0"/>
              </a:rPr>
              <a:t>In the early days, database applications were built directly on top of file systems, which leads to: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 (Cont.)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656322" cy="3990273"/>
          </a:xfrm>
        </p:spPr>
        <p:txBody>
          <a:bodyPr/>
          <a:lstStyle/>
          <a:p>
            <a:r>
              <a:rPr lang="en-US" altLang="en-US" sz="1700" dirty="0"/>
              <a:t>Atomicity of updates</a:t>
            </a:r>
          </a:p>
          <a:p>
            <a:pPr lvl="1"/>
            <a:r>
              <a:rPr lang="en-US" altLang="en-US" sz="1700" dirty="0"/>
              <a:t>Failures may leave database in an inconsistent state with partial updates carried out</a:t>
            </a:r>
          </a:p>
          <a:p>
            <a:pPr lvl="1"/>
            <a:r>
              <a:rPr lang="en-US" altLang="en-US" sz="1700" dirty="0"/>
              <a:t>Example: Transfer of funds from one account to another should either complete or not happen at all</a:t>
            </a:r>
          </a:p>
          <a:p>
            <a:r>
              <a:rPr lang="en-US" altLang="en-US" sz="1700" dirty="0"/>
              <a:t>Concurrent access by multiple users</a:t>
            </a:r>
          </a:p>
          <a:p>
            <a:pPr lvl="1"/>
            <a:r>
              <a:rPr lang="en-US" altLang="en-US" sz="1700" dirty="0"/>
              <a:t>Concurrent access needed for performance</a:t>
            </a:r>
          </a:p>
          <a:p>
            <a:pPr lvl="1"/>
            <a:r>
              <a:rPr lang="en-US" altLang="en-US" sz="1700" dirty="0"/>
              <a:t>Uncontrolled concurrent accesses can lead to inconsistencies</a:t>
            </a:r>
          </a:p>
          <a:p>
            <a:pPr lvl="2"/>
            <a:r>
              <a:rPr lang="en-US" altLang="en-US" sz="1700" dirty="0"/>
              <a:t>Ex: Two people reading a balance (say 100) and updating it by withdrawing money (say 50 each) at the same time</a:t>
            </a:r>
          </a:p>
          <a:p>
            <a:r>
              <a:rPr lang="en-US" altLang="en-US" sz="1700" dirty="0"/>
              <a:t>Security problems</a:t>
            </a:r>
          </a:p>
          <a:p>
            <a:pPr lvl="1"/>
            <a:r>
              <a:rPr lang="en-US" altLang="en-US" sz="1700" dirty="0"/>
              <a:t>Hard to provide user access to some, but not all, data</a:t>
            </a:r>
          </a:p>
          <a:p>
            <a:pPr marL="457200" lvl="1" indent="0">
              <a:buNone/>
            </a:pPr>
            <a:endParaRPr lang="en-US" altLang="en-US" sz="1700" dirty="0"/>
          </a:p>
          <a:p>
            <a:pPr>
              <a:buNone/>
            </a:pPr>
            <a:r>
              <a:rPr lang="en-US" altLang="en-US" b="1" dirty="0">
                <a:solidFill>
                  <a:srgbClr val="002060"/>
                </a:solidFill>
              </a:rPr>
              <a:t>    Database systems offer solutions to all the above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University Database Example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4502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In this text we will be using a university database to illustrate all the concepts</a:t>
            </a:r>
          </a:p>
          <a:p>
            <a:r>
              <a:rPr lang="en-US" altLang="en-US" sz="1700" dirty="0"/>
              <a:t>Data consists of information about:</a:t>
            </a:r>
          </a:p>
          <a:p>
            <a:pPr lvl="1"/>
            <a:r>
              <a:rPr lang="en-US" altLang="en-US" sz="1700" dirty="0"/>
              <a:t>Students</a:t>
            </a:r>
          </a:p>
          <a:p>
            <a:pPr lvl="1"/>
            <a:r>
              <a:rPr lang="en-US" altLang="en-US" sz="1700" dirty="0"/>
              <a:t>Instructors</a:t>
            </a:r>
          </a:p>
          <a:p>
            <a:pPr lvl="1"/>
            <a:r>
              <a:rPr lang="en-US" altLang="en-US" sz="1700" dirty="0"/>
              <a:t>Classes</a:t>
            </a:r>
          </a:p>
          <a:p>
            <a:r>
              <a:rPr lang="en-US" altLang="en-US" sz="1700" dirty="0"/>
              <a:t>Application program examples:</a:t>
            </a:r>
          </a:p>
          <a:p>
            <a:pPr lvl="1"/>
            <a:r>
              <a:rPr lang="en-US" altLang="en-US" sz="1700" dirty="0"/>
              <a:t>Add new students, instructors, and courses</a:t>
            </a:r>
          </a:p>
          <a:p>
            <a:pPr lvl="1"/>
            <a:r>
              <a:rPr lang="en-US" altLang="en-US" sz="1700" dirty="0"/>
              <a:t>Register students for courses, and generate class rosters</a:t>
            </a:r>
          </a:p>
          <a:p>
            <a:pPr lvl="1"/>
            <a:r>
              <a:rPr lang="en-US" altLang="en-US" sz="1700" dirty="0"/>
              <a:t>Assign grades to students, compute grade point averages (GPA) and generate transcripts</a:t>
            </a:r>
          </a:p>
          <a:p>
            <a:pPr>
              <a:buFont typeface="Monotype Sorts" charset="2"/>
              <a:buNone/>
            </a:pP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29810"/>
            <a:ext cx="7647680" cy="4895503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database system is a collection of interrelated data and a set of programs that allow users to access and modify these data. 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major purpose of a database system is to provide users with an abstract view of the data.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models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collection of conceptual tools for describing data, data relationships, data semantics, and consistency constraints.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abstraction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Hide the complexity  of data structures to represent data in the database from users through several levels of data abstraction.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Models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57215"/>
            <a:ext cx="7802626" cy="4819329"/>
          </a:xfrm>
        </p:spPr>
        <p:txBody>
          <a:bodyPr/>
          <a:lstStyle/>
          <a:p>
            <a:r>
              <a:rPr lang="en-US" altLang="en-US" sz="1700" dirty="0"/>
              <a:t>A collection of tools for describing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relationships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semantics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constraints</a:t>
            </a:r>
          </a:p>
          <a:p>
            <a:r>
              <a:rPr lang="en-US" altLang="en-US" sz="1700" dirty="0"/>
              <a:t>Relational model</a:t>
            </a:r>
          </a:p>
          <a:p>
            <a:r>
              <a:rPr lang="en-US" altLang="en-US" sz="1700" dirty="0"/>
              <a:t>Entity-Relationship data model (mainly for database design) </a:t>
            </a:r>
          </a:p>
          <a:p>
            <a:r>
              <a:rPr lang="en-US" altLang="en-US" sz="1700" dirty="0"/>
              <a:t>Object-based data models (Object-oriented and Object-relational)</a:t>
            </a:r>
          </a:p>
          <a:p>
            <a:r>
              <a:rPr lang="en-US" altLang="en-US" sz="1700" dirty="0"/>
              <a:t>Semi-structured data model  (XML)</a:t>
            </a:r>
          </a:p>
          <a:p>
            <a:r>
              <a:rPr lang="en-US" altLang="en-US" sz="1700" dirty="0"/>
              <a:t>Other older models:</a:t>
            </a:r>
          </a:p>
          <a:p>
            <a:pPr lvl="1"/>
            <a:r>
              <a:rPr lang="en-US" altLang="en-US" sz="1700" dirty="0"/>
              <a:t>Network model </a:t>
            </a:r>
          </a:p>
          <a:p>
            <a:pPr lvl="1"/>
            <a:r>
              <a:rPr lang="en-US" altLang="en-US" sz="1700" dirty="0"/>
              <a:t>Hierarchical model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Model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7"/>
            <a:ext cx="7924546" cy="1490914"/>
          </a:xfrm>
        </p:spPr>
        <p:txBody>
          <a:bodyPr/>
          <a:lstStyle/>
          <a:p>
            <a:r>
              <a:rPr lang="en-US" altLang="en-US" sz="1700" dirty="0"/>
              <a:t>All the data is stored in various tables.</a:t>
            </a:r>
          </a:p>
          <a:p>
            <a:r>
              <a:rPr lang="en-US" altLang="en-US" sz="1700" dirty="0"/>
              <a:t>Example of tabular data in the relational model</a:t>
            </a:r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4330436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057993" y="5374285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A Sample Relational Database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678" y="803604"/>
            <a:ext cx="3420192" cy="57393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Levels of Abstraction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90"/>
            <a:ext cx="7638803" cy="4903787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Physical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how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Logical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data stored in database, and the relationships among the data.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	type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= </a:t>
            </a:r>
            <a:r>
              <a:rPr lang="en-US" altLang="en-US" sz="1700" b="1" dirty="0"/>
              <a:t>record</a:t>
            </a:r>
            <a:endParaRPr lang="en-US" altLang="en-US" sz="1700" dirty="0"/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/>
              <a:t>ID</a:t>
            </a:r>
            <a:r>
              <a:rPr lang="en-US" altLang="en-US" sz="1700" dirty="0"/>
              <a:t> : string;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: integer;</a:t>
            </a: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end</a:t>
            </a:r>
            <a:r>
              <a:rPr lang="en-US" altLang="en-US" sz="1700" dirty="0"/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View 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application programs hide details of data types.  Views can also hide information (such as an employee</a:t>
            </a:r>
            <a:r>
              <a:rPr lang="ja-JP" altLang="en-US" sz="1700" dirty="0"/>
              <a:t>’</a:t>
            </a:r>
            <a:r>
              <a:rPr lang="en-US" altLang="ja-JP" sz="1700" dirty="0"/>
              <a:t>s salary) for security purposes. 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948690" y="1151971"/>
            <a:ext cx="454913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An architecture for a database system </a:t>
            </a:r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09" y="1799807"/>
            <a:ext cx="5012055" cy="29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Instances and Schemas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20123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Similar to types and variables in programming languages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Logical Schema </a:t>
            </a:r>
            <a:r>
              <a:rPr lang="en-US" altLang="en-US" sz="1700" dirty="0"/>
              <a:t>– the overall logical structure of the database </a:t>
            </a:r>
          </a:p>
          <a:p>
            <a:pPr lvl="1"/>
            <a:r>
              <a:rPr lang="en-US" altLang="en-US" sz="1700" dirty="0"/>
              <a:t>Example: The database consists of information about a set of customers and accounts in a bank and the relationship between them</a:t>
            </a:r>
          </a:p>
          <a:p>
            <a:pPr lvl="2"/>
            <a:r>
              <a:rPr lang="en-US" altLang="en-US" sz="1700" dirty="0"/>
              <a:t>Analogous to type information of a variable in a program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Physical schema </a:t>
            </a:r>
            <a:r>
              <a:rPr lang="en-US" altLang="en-US" sz="1700" dirty="0"/>
              <a:t>– the overall physical  structure of the database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Instance</a:t>
            </a:r>
            <a:r>
              <a:rPr lang="en-US" altLang="en-US" sz="1700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– the actual content of the database at a particular point in time </a:t>
            </a:r>
          </a:p>
          <a:p>
            <a:pPr lvl="1"/>
            <a:r>
              <a:rPr lang="en-US" altLang="en-US" sz="1700" dirty="0"/>
              <a:t>Analogous to the value of a variable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/>
              <a:t>Physical Data Independence </a:t>
            </a:r>
            <a:endParaRPr lang="en-US" altLang="en-US" sz="2800" dirty="0">
              <a:effectLst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50544"/>
            <a:ext cx="7558904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Physical Data Independence </a:t>
            </a:r>
            <a:r>
              <a:rPr lang="en-US" altLang="en-US" sz="1700" dirty="0"/>
              <a:t>– the ability to modify the physical schema without changing the logical schema</a:t>
            </a:r>
          </a:p>
          <a:p>
            <a:pPr lvl="1"/>
            <a:r>
              <a:rPr lang="en-US" altLang="en-US" sz="1700" dirty="0"/>
              <a:t>Applications depend on the logical schema</a:t>
            </a:r>
          </a:p>
          <a:p>
            <a:pPr lvl="1"/>
            <a:r>
              <a:rPr lang="en-US" altLang="en-US" sz="1700" dirty="0"/>
              <a:t>In general, the interfaces between the various levels and components should be well defined so that changes in some parts do not seriously influence others.</a:t>
            </a:r>
          </a:p>
          <a:p>
            <a:endParaRPr lang="en-US" alt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Definition Language (DDL)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6942"/>
            <a:ext cx="7401096" cy="4903787"/>
          </a:xfrm>
        </p:spPr>
        <p:txBody>
          <a:bodyPr/>
          <a:lstStyle/>
          <a:p>
            <a:r>
              <a:rPr lang="en-US" altLang="en-US" sz="1700" dirty="0"/>
              <a:t>Specification notation for defining the database schema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Example:	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r>
              <a:rPr lang="en-US" altLang="en-US" sz="1700" dirty="0"/>
              <a:t>DDL compiler generates a set of table templates stored in a </a:t>
            </a:r>
            <a:r>
              <a:rPr lang="en-US" altLang="en-US" sz="1700" b="1" i="1" dirty="0">
                <a:solidFill>
                  <a:srgbClr val="002060"/>
                </a:solidFill>
              </a:rPr>
              <a:t>data dictionary</a:t>
            </a:r>
          </a:p>
          <a:p>
            <a:r>
              <a:rPr lang="en-US" altLang="en-US" sz="1700" dirty="0"/>
              <a:t>Data dictionary contains metadata (i.e., data about data)</a:t>
            </a:r>
          </a:p>
          <a:p>
            <a:pPr lvl="1"/>
            <a:r>
              <a:rPr lang="en-US" altLang="en-US" sz="1700" dirty="0"/>
              <a:t>Database schema </a:t>
            </a:r>
          </a:p>
          <a:p>
            <a:pPr lvl="1"/>
            <a:r>
              <a:rPr lang="en-US" altLang="en-US" sz="1700" dirty="0"/>
              <a:t>Integrity constraints</a:t>
            </a:r>
          </a:p>
          <a:p>
            <a:pPr lvl="2"/>
            <a:r>
              <a:rPr lang="en-US" altLang="en-US" sz="1700" dirty="0"/>
              <a:t>Primary key (ID uniquely identifies instructors)</a:t>
            </a:r>
          </a:p>
          <a:p>
            <a:pPr lvl="1"/>
            <a:r>
              <a:rPr lang="en-US" altLang="en-US" sz="1700" dirty="0"/>
              <a:t>Authorization</a:t>
            </a:r>
          </a:p>
          <a:p>
            <a:pPr lvl="2"/>
            <a:r>
              <a:rPr lang="en-US" altLang="en-US" sz="1700" dirty="0"/>
              <a:t>Who can access what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(DML)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93790"/>
            <a:ext cx="7550027" cy="4903787"/>
          </a:xfrm>
        </p:spPr>
        <p:txBody>
          <a:bodyPr/>
          <a:lstStyle/>
          <a:p>
            <a:r>
              <a:rPr lang="en-US" altLang="en-US" sz="1700" dirty="0"/>
              <a:t>Language for accessing and updating the data organized by the appropriate data model</a:t>
            </a:r>
          </a:p>
          <a:p>
            <a:pPr lvl="1"/>
            <a:r>
              <a:rPr lang="en-US" altLang="en-US" sz="1700" dirty="0"/>
              <a:t>DML also known as query language</a:t>
            </a:r>
          </a:p>
          <a:p>
            <a:r>
              <a:rPr lang="en-US" altLang="en-US" dirty="0"/>
              <a:t>There are basically two types of data-manipulation language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Procedural DML </a:t>
            </a:r>
            <a:r>
              <a:rPr lang="en-US" altLang="en-US" dirty="0">
                <a:cs typeface="ＭＳ Ｐゴシック" charset="0"/>
              </a:rPr>
              <a:t>--  require a user to specify what data are needed and how to get those data.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Declarative DML  </a:t>
            </a:r>
            <a:r>
              <a:rPr lang="en-US" altLang="en-US" dirty="0">
                <a:cs typeface="ＭＳ Ｐゴシック" charset="0"/>
              </a:rPr>
              <a:t>-- require a user to specify what data are needed without specifying how to get those data. </a:t>
            </a:r>
          </a:p>
          <a:p>
            <a:r>
              <a:rPr lang="en-US" altLang="en-US" dirty="0"/>
              <a:t>Declarative DMLs are usually easier to learn and use than are procedural DMLs.  </a:t>
            </a:r>
          </a:p>
          <a:p>
            <a:r>
              <a:rPr lang="en-US" altLang="en-US" dirty="0"/>
              <a:t>Declarative DMLs are also referred to as non-procedural DMLs</a:t>
            </a:r>
          </a:p>
          <a:p>
            <a:r>
              <a:rPr lang="en-US" altLang="en-US" dirty="0"/>
              <a:t>The portion of a DML that involves information retrieval is called a </a:t>
            </a:r>
            <a:r>
              <a:rPr lang="en-US" altLang="en-US" b="1" dirty="0">
                <a:solidFill>
                  <a:srgbClr val="002060"/>
                </a:solidFill>
              </a:rPr>
              <a:t>query</a:t>
            </a:r>
            <a:r>
              <a:rPr lang="en-US" altLang="en-US" dirty="0"/>
              <a:t> language.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57952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SQL Query Language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43359"/>
            <a:ext cx="7603292" cy="4806338"/>
          </a:xfrm>
        </p:spPr>
        <p:txBody>
          <a:bodyPr/>
          <a:lstStyle/>
          <a:p>
            <a:r>
              <a:rPr lang="en-US" altLang="en-US" sz="1700" dirty="0"/>
              <a:t>SQL  query language is nonprocedural. A query takes as input several tables (possibly only one) and always returns a single table.</a:t>
            </a:r>
          </a:p>
          <a:p>
            <a:pPr>
              <a:tabLst>
                <a:tab pos="983456" algn="l"/>
              </a:tabLst>
            </a:pPr>
            <a:r>
              <a:rPr lang="en-US" altLang="en-US" sz="1700" dirty="0"/>
              <a:t>Example to find all instructors in Comp. Sci. dept</a:t>
            </a:r>
          </a:p>
          <a:p>
            <a:pPr>
              <a:buNone/>
              <a:tabLst>
                <a:tab pos="983456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ja-JP" sz="1700" dirty="0"/>
              <a:t>'Comp. Sci.'</a:t>
            </a:r>
            <a:endParaRPr lang="en-US" altLang="en-US" sz="1700" dirty="0"/>
          </a:p>
          <a:p>
            <a:r>
              <a:rPr lang="en-US" altLang="en-US" sz="1700" dirty="0"/>
              <a:t>SQL is </a:t>
            </a:r>
            <a:r>
              <a:rPr lang="en-US" altLang="en-US" sz="1700" b="1" dirty="0">
                <a:solidFill>
                  <a:srgbClr val="002060"/>
                </a:solidFill>
              </a:rPr>
              <a:t>NOT</a:t>
            </a:r>
            <a:r>
              <a:rPr lang="en-US" altLang="en-US" sz="1700" dirty="0"/>
              <a:t> a Turing machine equivalent language</a:t>
            </a:r>
          </a:p>
          <a:p>
            <a:r>
              <a:rPr lang="en-US" altLang="en-US" sz="1700" dirty="0"/>
              <a:t>To be able to compute complex functions SQL is usually embedded in some higher-level language</a:t>
            </a:r>
          </a:p>
          <a:p>
            <a:r>
              <a:rPr lang="en-US" altLang="en-US" sz="1700" dirty="0"/>
              <a:t>Application programs generally access databases through one of</a:t>
            </a:r>
          </a:p>
          <a:p>
            <a:pPr lvl="1"/>
            <a:r>
              <a:rPr lang="en-US" altLang="en-US" sz="1700" dirty="0"/>
              <a:t>Language extensions to allow embedded SQL</a:t>
            </a:r>
          </a:p>
          <a:p>
            <a:pPr lvl="1"/>
            <a:r>
              <a:rPr lang="en-US" altLang="en-US" sz="1700" dirty="0"/>
              <a:t>Application program interface (e.g., ODBC/JD</a:t>
            </a:r>
            <a:r>
              <a:rPr lang="en-US" altLang="en-US" dirty="0"/>
              <a:t>BC) which allow SQL queries to be sent to a database</a:t>
            </a:r>
          </a:p>
          <a:p>
            <a:pPr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Access from Application Program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006"/>
            <a:ext cx="7585537" cy="4903787"/>
          </a:xfrm>
        </p:spPr>
        <p:txBody>
          <a:bodyPr/>
          <a:lstStyle/>
          <a:p>
            <a:r>
              <a:rPr lang="en-US" altLang="en-US" sz="1700" dirty="0"/>
              <a:t>Non-procedural query languages such as SQL are not as powerful as a universal Turing machine.</a:t>
            </a:r>
            <a:r>
              <a:rPr lang="en-US" altLang="en-US" sz="1700" dirty="0">
                <a:sym typeface="Symbol" panose="05050102010706020507" pitchFamily="18" charset="2"/>
              </a:rPr>
              <a:t>  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SQL does not support actions such as input from users, output to displays, or communication over the network.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Such computations and actions must be written in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host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language</a:t>
            </a:r>
            <a:r>
              <a:rPr lang="en-US" altLang="en-US" sz="1700" dirty="0">
                <a:sym typeface="Symbol" panose="05050102010706020507" pitchFamily="18" charset="2"/>
              </a:rPr>
              <a:t>, such as C/C++, Java or Python, with embedded SQL queries that access the data in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Application programs </a:t>
            </a:r>
            <a:r>
              <a:rPr lang="en-US" altLang="en-US" sz="1700" dirty="0">
                <a:sym typeface="Symbol" panose="05050102010706020507" pitchFamily="18" charset="2"/>
              </a:rPr>
              <a:t>-- are programs that are used to interact with the database in this fashion.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Design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994300" y="1535768"/>
            <a:ext cx="7457242" cy="4425713"/>
          </a:xfrm>
        </p:spPr>
        <p:txBody>
          <a:bodyPr/>
          <a:lstStyle/>
          <a:p>
            <a:r>
              <a:rPr lang="en-US" altLang="en-US" sz="1700" dirty="0"/>
              <a:t>Logical Design –  Deciding on the database schema. Database design requires that we find a </a:t>
            </a:r>
            <a:r>
              <a:rPr lang="ja-JP" altLang="en-US" sz="1700" dirty="0"/>
              <a:t>“</a:t>
            </a:r>
            <a:r>
              <a:rPr lang="en-US" altLang="ja-JP" sz="1700" dirty="0"/>
              <a:t>good</a:t>
            </a:r>
            <a:r>
              <a:rPr lang="ja-JP" altLang="en-US" sz="1700" dirty="0"/>
              <a:t>”</a:t>
            </a:r>
            <a:r>
              <a:rPr lang="en-US" altLang="ja-JP" sz="1700" dirty="0"/>
              <a:t> collection of relation schemas.</a:t>
            </a:r>
          </a:p>
          <a:p>
            <a:pPr lvl="1"/>
            <a:r>
              <a:rPr lang="en-US" altLang="en-US" sz="1700" dirty="0"/>
              <a:t>Business decision – What attributes should we record in the database?</a:t>
            </a:r>
          </a:p>
          <a:p>
            <a:pPr lvl="1"/>
            <a:r>
              <a:rPr lang="en-US" altLang="en-US" sz="1700" dirty="0"/>
              <a:t>Computer Science decision –  What relation schemas should we have and how should the attributes be distributed among the various relation schemas?</a:t>
            </a:r>
          </a:p>
          <a:p>
            <a:r>
              <a:rPr lang="en-US" altLang="en-US" sz="1700" dirty="0"/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8351" y="1089305"/>
            <a:ext cx="814400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en-US" sz="1700" dirty="0"/>
              <a:t>The process of designing the general structure of the database: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Engine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54750"/>
            <a:ext cx="7550026" cy="4903787"/>
          </a:xfrm>
        </p:spPr>
        <p:txBody>
          <a:bodyPr/>
          <a:lstStyle/>
          <a:p>
            <a:r>
              <a:rPr lang="en-US" altLang="en-US" sz="1700" dirty="0"/>
              <a:t>A database system is partitioned into modules that deal with each of the responsibilities of the overall system.  </a:t>
            </a:r>
          </a:p>
          <a:p>
            <a:r>
              <a:rPr lang="en-US" altLang="en-US" sz="1700" dirty="0"/>
              <a:t>The functional components of a database system can be divided into</a:t>
            </a:r>
          </a:p>
          <a:p>
            <a:pPr lvl="1"/>
            <a:r>
              <a:rPr lang="en-US" altLang="en-US" sz="1700" dirty="0"/>
              <a:t>The storage manager,</a:t>
            </a:r>
          </a:p>
          <a:p>
            <a:pPr lvl="1"/>
            <a:r>
              <a:rPr lang="en-US" altLang="en-US" sz="1700" dirty="0"/>
              <a:t>The  query processor component, </a:t>
            </a:r>
          </a:p>
          <a:p>
            <a:pPr lvl="1"/>
            <a:r>
              <a:rPr lang="en-US" altLang="en-US" sz="1700" dirty="0"/>
              <a:t>The transaction management component.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46142"/>
            <a:ext cx="7638803" cy="4903787"/>
          </a:xfrm>
        </p:spPr>
        <p:txBody>
          <a:bodyPr/>
          <a:lstStyle/>
          <a:p>
            <a:r>
              <a:rPr lang="en-US" altLang="en-US" sz="1700" dirty="0"/>
              <a:t>A program module that provides the interface between the low-level data stored in the database and the application programs and queries submitted to the system.</a:t>
            </a:r>
          </a:p>
          <a:p>
            <a:r>
              <a:rPr lang="en-US" altLang="en-US" sz="1700" dirty="0"/>
              <a:t>The storage manager is responsible to the following tasks: </a:t>
            </a:r>
          </a:p>
          <a:p>
            <a:pPr lvl="1"/>
            <a:r>
              <a:rPr lang="en-US" altLang="en-US" sz="1700" dirty="0"/>
              <a:t>Interaction with the OS file manager </a:t>
            </a:r>
          </a:p>
          <a:p>
            <a:pPr lvl="1"/>
            <a:r>
              <a:rPr lang="en-US" altLang="en-US" sz="1700" dirty="0"/>
              <a:t>Efficient storing, retrieving and updating of data</a:t>
            </a:r>
          </a:p>
          <a:p>
            <a:r>
              <a:rPr lang="en-US" altLang="en-US" sz="1700" dirty="0"/>
              <a:t>The storage manager components include:</a:t>
            </a:r>
          </a:p>
          <a:p>
            <a:pPr lvl="1"/>
            <a:r>
              <a:rPr lang="en-US" altLang="en-US" sz="1700" dirty="0"/>
              <a:t>Authorization and integrity manager</a:t>
            </a:r>
          </a:p>
          <a:p>
            <a:pPr lvl="1"/>
            <a:r>
              <a:rPr lang="en-US" altLang="en-US" sz="1700" dirty="0"/>
              <a:t>Transaction manager</a:t>
            </a:r>
          </a:p>
          <a:p>
            <a:pPr lvl="1"/>
            <a:r>
              <a:rPr lang="en-US" altLang="en-US" sz="1700" dirty="0"/>
              <a:t>File manager</a:t>
            </a:r>
          </a:p>
          <a:p>
            <a:pPr lvl="1"/>
            <a:r>
              <a:rPr lang="en-US" altLang="en-US" sz="1700" dirty="0"/>
              <a:t>Buffer manager</a:t>
            </a:r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 (Cont.)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2239"/>
            <a:ext cx="7683192" cy="3270306"/>
          </a:xfrm>
        </p:spPr>
        <p:txBody>
          <a:bodyPr/>
          <a:lstStyle/>
          <a:p>
            <a:r>
              <a:rPr lang="en-US" altLang="en-US" sz="1700" dirty="0"/>
              <a:t>The storage manager implements several data structures as part of the physical system implementation:</a:t>
            </a:r>
          </a:p>
          <a:p>
            <a:pPr lvl="1"/>
            <a:r>
              <a:rPr lang="en-US" altLang="en-US" sz="1700" dirty="0"/>
              <a:t>Data files -- store the database itself</a:t>
            </a:r>
          </a:p>
          <a:p>
            <a:pPr lvl="1"/>
            <a:r>
              <a:rPr lang="en-US" altLang="en-US" sz="1700" dirty="0"/>
              <a:t>Data dictionary --  stores metadata about the structure of the database, in particular the schema of the database.</a:t>
            </a:r>
          </a:p>
          <a:p>
            <a:pPr lvl="1"/>
            <a:r>
              <a:rPr lang="en-US" altLang="en-US" sz="1700" dirty="0"/>
              <a:t>Indices --  can provide fast access to data items.  A database index provides pointers to those data items that hold a particular value.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Processor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43038"/>
            <a:ext cx="7603293" cy="4903787"/>
          </a:xfrm>
        </p:spPr>
        <p:txBody>
          <a:bodyPr/>
          <a:lstStyle/>
          <a:p>
            <a:r>
              <a:rPr lang="en-US" altLang="en-US" sz="1700" dirty="0"/>
              <a:t>The query processor components include:</a:t>
            </a:r>
          </a:p>
          <a:p>
            <a:pPr lvl="1"/>
            <a:r>
              <a:rPr lang="en-US" altLang="en-US" sz="1700" dirty="0"/>
              <a:t>DDL  interpreter --  interprets DDL statements and records the definitions in the data dictionary.</a:t>
            </a:r>
          </a:p>
          <a:p>
            <a:pPr lvl="1"/>
            <a:r>
              <a:rPr lang="en-US" altLang="en-US" sz="1700" dirty="0"/>
              <a:t>DML compiler -- translates DML statements in a query language into an evaluation plan consisting of low-level instructions that the query evaluation engine understands.</a:t>
            </a:r>
          </a:p>
          <a:p>
            <a:pPr lvl="2"/>
            <a:r>
              <a:rPr lang="en-US" altLang="en-US" sz="1700" dirty="0"/>
              <a:t>The DML compiler performs query optimization; that is, it picks the lowest cost evaluation plan from among the various alternatives.</a:t>
            </a:r>
          </a:p>
          <a:p>
            <a:pPr lvl="1"/>
            <a:r>
              <a:rPr lang="en-US" altLang="en-US" sz="1700" dirty="0"/>
              <a:t>Query evaluation engine -- executes low-level instructions generated by the DML compiler.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Processing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9"/>
            <a:ext cx="7327139" cy="1100771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1700" dirty="0"/>
              <a:t>1.	Parsing and translation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2.	Optimization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3.	Evaluation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4" y="2368476"/>
            <a:ext cx="5718048" cy="34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Transaction Management</a:t>
            </a:r>
            <a:r>
              <a:rPr lang="en-US" altLang="en-US" dirty="0">
                <a:effectLst/>
              </a:rPr>
              <a:t>	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30367"/>
            <a:ext cx="7567781" cy="3661090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A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transaction </a:t>
            </a:r>
            <a:r>
              <a:rPr lang="en-US" altLang="en-US" sz="1700" dirty="0"/>
              <a:t>is a collection of operations that performs a single logical function in a database application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Transaction-management component </a:t>
            </a:r>
            <a:r>
              <a:rPr lang="en-US" altLang="en-US" sz="1700" dirty="0"/>
              <a:t>ensures that the database remains in a consistent (correct) state despite system failures (e.g., power failures and operating system crashes) and transaction failures.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Concurrency-control manager </a:t>
            </a:r>
            <a:r>
              <a:rPr lang="en-US" altLang="en-US" sz="1700" dirty="0"/>
              <a:t>controls the interaction among the concurrent transactions, to ensure the consistency of the database.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Architecture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354718" cy="4903787"/>
          </a:xfrm>
        </p:spPr>
        <p:txBody>
          <a:bodyPr/>
          <a:lstStyle/>
          <a:p>
            <a:r>
              <a:rPr lang="en-US" altLang="en-US" sz="1800" dirty="0"/>
              <a:t>Centralized databases</a:t>
            </a:r>
          </a:p>
          <a:p>
            <a:pPr lvl="1"/>
            <a:r>
              <a:rPr lang="en-US" altLang="en-US" sz="1700" dirty="0"/>
              <a:t>One to a few cores, shared memory</a:t>
            </a:r>
          </a:p>
          <a:p>
            <a:r>
              <a:rPr lang="en-US" altLang="en-US" sz="1800" dirty="0"/>
              <a:t>Client-server, </a:t>
            </a:r>
          </a:p>
          <a:p>
            <a:pPr lvl="1"/>
            <a:r>
              <a:rPr lang="en-US" altLang="en-US" sz="1700" dirty="0"/>
              <a:t>One server machine executes work on behalf of multiple client machines.</a:t>
            </a:r>
          </a:p>
          <a:p>
            <a:r>
              <a:rPr lang="en-US" altLang="en-US" sz="1800" dirty="0"/>
              <a:t>Parallel databases</a:t>
            </a:r>
          </a:p>
          <a:p>
            <a:pPr lvl="1"/>
            <a:r>
              <a:rPr lang="en-US" altLang="en-US" sz="1700" dirty="0"/>
              <a:t>Many core shared memory</a:t>
            </a:r>
          </a:p>
          <a:p>
            <a:pPr lvl="1"/>
            <a:r>
              <a:rPr lang="en-US" altLang="en-US" sz="1700" dirty="0"/>
              <a:t>Shared disk</a:t>
            </a:r>
          </a:p>
          <a:p>
            <a:pPr lvl="1"/>
            <a:r>
              <a:rPr lang="en-US" altLang="en-US" sz="1700" dirty="0"/>
              <a:t>Shared nothing</a:t>
            </a:r>
          </a:p>
          <a:p>
            <a:r>
              <a:rPr lang="en-US" altLang="en-US" sz="1800" dirty="0"/>
              <a:t>Distributed databases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Geographical distribution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Schema/data heterogeneity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874E-9429-4B1E-981E-C70D2AC6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49" y="117474"/>
            <a:ext cx="8137111" cy="762139"/>
          </a:xfrm>
        </p:spPr>
        <p:txBody>
          <a:bodyPr/>
          <a:lstStyle/>
          <a:p>
            <a:r>
              <a:rPr lang="en-IN" dirty="0"/>
              <a:t>Database Architecture </a:t>
            </a:r>
            <a:br>
              <a:rPr lang="en-IN" dirty="0"/>
            </a:br>
            <a:r>
              <a:rPr lang="en-IN" dirty="0"/>
              <a:t>(Centralized/Shared-Memory)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D13987-289A-4B35-AF04-A396F7912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828" b="-1"/>
          <a:stretch/>
        </p:blipFill>
        <p:spPr>
          <a:xfrm>
            <a:off x="2173080" y="959180"/>
            <a:ext cx="5489989" cy="56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5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Applications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154097" y="1569919"/>
            <a:ext cx="7359588" cy="3331266"/>
          </a:xfrm>
        </p:spPr>
        <p:txBody>
          <a:bodyPr/>
          <a:lstStyle/>
          <a:p>
            <a:r>
              <a:rPr lang="en-US" altLang="en-US" sz="1700" dirty="0"/>
              <a:t>Two-tier architecture --  the application resides at the client machine, where it invokes database system functionality at the server machine</a:t>
            </a:r>
          </a:p>
          <a:p>
            <a:r>
              <a:rPr lang="en-US" altLang="en-US" sz="1700" dirty="0"/>
              <a:t>Three-tier architecture -- the client machine acts as a front end and does not contain any direct database calls.  </a:t>
            </a:r>
          </a:p>
          <a:p>
            <a:pPr lvl="1"/>
            <a:r>
              <a:rPr lang="en-US" altLang="en-US" sz="1700" dirty="0"/>
              <a:t>The client end communicates with an application server, usually through a forms interface.  </a:t>
            </a:r>
          </a:p>
          <a:p>
            <a:pPr lvl="1"/>
            <a:r>
              <a:rPr lang="en-US" altLang="en-US" sz="1700" dirty="0"/>
              <a:t>The application server in turn communicates with a database system to access data.  </a:t>
            </a:r>
          </a:p>
          <a:p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70432"/>
            <a:ext cx="709549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Database applications are usually partitioned into two or three parts</a:t>
            </a:r>
          </a:p>
        </p:txBody>
      </p:sp>
    </p:spTree>
    <p:extLst>
      <p:ext uri="{BB962C8B-B14F-4D97-AF65-F5344CB8AC3E}">
        <p14:creationId xmlns:p14="http://schemas.microsoft.com/office/powerpoint/2010/main" val="3708817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Two-tier and three-tier architectures</a:t>
            </a:r>
          </a:p>
        </p:txBody>
      </p:sp>
      <p:sp>
        <p:nvSpPr>
          <p:cNvPr id="59394" name="Rectangle 10"/>
          <p:cNvSpPr>
            <a:spLocks noChangeArrowheads="1"/>
          </p:cNvSpPr>
          <p:nvPr/>
        </p:nvSpPr>
        <p:spPr bwMode="auto">
          <a:xfrm>
            <a:off x="5934075" y="2765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5" name="Rectangle 11"/>
          <p:cNvSpPr>
            <a:spLocks noChangeArrowheads="1"/>
          </p:cNvSpPr>
          <p:nvPr/>
        </p:nvSpPr>
        <p:spPr bwMode="auto">
          <a:xfrm>
            <a:off x="6038850" y="396597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000750" y="4670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A18438-CAED-46A8-AC4A-9CD37495A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638" y="1378918"/>
            <a:ext cx="6568649" cy="42147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Users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BFA042-22D8-4B76-83F1-7A404E7E23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46320"/>
          <a:stretch/>
        </p:blipFill>
        <p:spPr>
          <a:xfrm>
            <a:off x="1152940" y="1114976"/>
            <a:ext cx="7291748" cy="56255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Administrator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976545" y="1799577"/>
            <a:ext cx="7301824" cy="405945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1700" dirty="0"/>
              <a:t>Schema definition</a:t>
            </a:r>
          </a:p>
          <a:p>
            <a:r>
              <a:rPr lang="en-US" altLang="en-US" sz="1700" dirty="0"/>
              <a:t>Storage structure and access-method definition</a:t>
            </a:r>
          </a:p>
          <a:p>
            <a:r>
              <a:rPr lang="en-US" altLang="en-US" sz="1700" dirty="0"/>
              <a:t>Schema and physical-organization modification</a:t>
            </a:r>
          </a:p>
          <a:p>
            <a:r>
              <a:rPr lang="en-US" altLang="en-US" sz="1700" dirty="0"/>
              <a:t>Granting of authorization for data access</a:t>
            </a:r>
          </a:p>
          <a:p>
            <a:r>
              <a:rPr lang="en-US" altLang="en-US" sz="1700" dirty="0"/>
              <a:t>Routine maintenance</a:t>
            </a:r>
          </a:p>
          <a:p>
            <a:r>
              <a:rPr lang="en-US" altLang="en-US" sz="1700" dirty="0"/>
              <a:t>Periodically backing up the database</a:t>
            </a:r>
          </a:p>
          <a:p>
            <a:r>
              <a:rPr lang="en-US" altLang="en-US" sz="1700" dirty="0"/>
              <a:t>Ensuring that enough free disk space is available for normal operations, and upgrading disk space as required</a:t>
            </a:r>
          </a:p>
          <a:p>
            <a:r>
              <a:rPr lang="en-US" altLang="en-US" sz="1700" dirty="0"/>
              <a:t>Monitoring jobs running on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351" y="1135533"/>
            <a:ext cx="75100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/>
              <a:t>A person who has central control over the system is called a </a:t>
            </a:r>
            <a:r>
              <a:rPr lang="en-US" sz="1700" b="1" dirty="0">
                <a:solidFill>
                  <a:srgbClr val="002060"/>
                </a:solidFill>
              </a:rPr>
              <a:t>database administrator </a:t>
            </a:r>
            <a:r>
              <a:rPr lang="en-US" sz="1700" b="1" dirty="0"/>
              <a:t>(</a:t>
            </a:r>
            <a:r>
              <a:rPr lang="en-US" sz="1700" b="1" dirty="0">
                <a:solidFill>
                  <a:srgbClr val="002060"/>
                </a:solidFill>
              </a:rPr>
              <a:t>DBA</a:t>
            </a:r>
            <a:r>
              <a:rPr lang="en-US" sz="1700" b="1" dirty="0"/>
              <a:t>).  </a:t>
            </a:r>
            <a:r>
              <a:rPr lang="en-US" sz="1700" dirty="0"/>
              <a:t>Functions of a DBA include: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21664"/>
            <a:ext cx="7692068" cy="4900777"/>
          </a:xfrm>
        </p:spPr>
        <p:txBody>
          <a:bodyPr/>
          <a:lstStyle/>
          <a:p>
            <a:r>
              <a:rPr lang="en-US" altLang="en-US" sz="1700" dirty="0"/>
              <a:t>1950s and early 1960s:</a:t>
            </a:r>
          </a:p>
          <a:p>
            <a:pPr lvl="1"/>
            <a:r>
              <a:rPr lang="en-US" altLang="en-US" sz="1700" dirty="0"/>
              <a:t>Data processing using magnetic tapes for storage</a:t>
            </a:r>
          </a:p>
          <a:p>
            <a:pPr lvl="2"/>
            <a:r>
              <a:rPr lang="en-US" altLang="en-US" sz="1700" dirty="0"/>
              <a:t>Tapes provided only sequential access</a:t>
            </a:r>
          </a:p>
          <a:p>
            <a:pPr lvl="1"/>
            <a:r>
              <a:rPr lang="en-US" altLang="en-US" sz="1700" dirty="0"/>
              <a:t>Punched cards for input</a:t>
            </a:r>
          </a:p>
          <a:p>
            <a:r>
              <a:rPr lang="en-US" altLang="en-US" sz="1700" dirty="0"/>
              <a:t>Late 1960s and 1970s:</a:t>
            </a:r>
          </a:p>
          <a:p>
            <a:pPr lvl="1"/>
            <a:r>
              <a:rPr lang="en-US" altLang="en-US" sz="1700" dirty="0"/>
              <a:t>Hard disks allowed direct access to data</a:t>
            </a:r>
          </a:p>
          <a:p>
            <a:pPr lvl="1"/>
            <a:r>
              <a:rPr lang="en-US" altLang="en-US" sz="1700" dirty="0"/>
              <a:t>Network and hierarchical data models in widespread use</a:t>
            </a:r>
          </a:p>
          <a:p>
            <a:pPr lvl="1"/>
            <a:r>
              <a:rPr lang="en-US" altLang="en-US" sz="1700" dirty="0"/>
              <a:t>Ted </a:t>
            </a:r>
            <a:r>
              <a:rPr lang="en-US" altLang="en-US" sz="1700" dirty="0" err="1"/>
              <a:t>Codd</a:t>
            </a:r>
            <a:r>
              <a:rPr lang="en-US" altLang="en-US" sz="1700" dirty="0"/>
              <a:t> defines the relational data model</a:t>
            </a:r>
          </a:p>
          <a:p>
            <a:pPr lvl="2"/>
            <a:r>
              <a:rPr lang="en-US" altLang="en-US" sz="1700" dirty="0"/>
              <a:t>Would win the ACM Turing Award for this work</a:t>
            </a:r>
          </a:p>
          <a:p>
            <a:pPr lvl="2"/>
            <a:r>
              <a:rPr lang="en-US" altLang="en-US" sz="1700" dirty="0"/>
              <a:t>IBM Research begins System R prototype</a:t>
            </a:r>
          </a:p>
          <a:p>
            <a:pPr lvl="2"/>
            <a:r>
              <a:rPr lang="en-US" altLang="en-US" sz="1700" dirty="0"/>
              <a:t>UC Berkeley (Michael </a:t>
            </a:r>
            <a:r>
              <a:rPr lang="en-US" altLang="en-US" sz="1700" dirty="0" err="1"/>
              <a:t>Stonebraker</a:t>
            </a:r>
            <a:r>
              <a:rPr lang="en-US" altLang="en-US" sz="1700" dirty="0"/>
              <a:t>) begins Ingres prototype</a:t>
            </a:r>
          </a:p>
          <a:p>
            <a:pPr lvl="2"/>
            <a:r>
              <a:rPr lang="en-US" altLang="en-US" sz="1700" dirty="0"/>
              <a:t>Oracle releases first commercial relational database</a:t>
            </a:r>
          </a:p>
          <a:p>
            <a:pPr lvl="1"/>
            <a:r>
              <a:rPr lang="en-US" altLang="en-US" sz="1700" dirty="0"/>
              <a:t>High-performance (for the era) transaction processing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6"/>
            <a:ext cx="762104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1980s: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Research relational prototypes evolve into commercial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becomes industrial standard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Parallel and distributed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Wisconsin, IBM, Teradata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Object-oriented database systems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1990s: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decision support and data-mining applications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multi-terabyte data warehouses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Emergence of Web commerce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9135"/>
            <a:ext cx="7665435" cy="4892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2000s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storage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Google </a:t>
            </a:r>
            <a:r>
              <a:rPr lang="en-US" altLang="en-US" sz="1700" dirty="0" err="1"/>
              <a:t>BigTable</a:t>
            </a:r>
            <a:r>
              <a:rPr lang="en-US" altLang="en-US" sz="1700" dirty="0"/>
              <a:t>, Yahoo </a:t>
            </a:r>
            <a:r>
              <a:rPr lang="en-US" altLang="en-US" sz="1700" dirty="0" err="1"/>
              <a:t>PNuts</a:t>
            </a:r>
            <a:r>
              <a:rPr lang="en-US" altLang="en-US" sz="1700" dirty="0"/>
              <a:t>, Amazon, 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“</a:t>
            </a:r>
            <a:r>
              <a:rPr lang="en-US" altLang="ja-JP" sz="1700" dirty="0"/>
              <a:t>NoSQL</a:t>
            </a:r>
            <a:r>
              <a:rPr lang="en-US" altLang="en-US" sz="1700" dirty="0"/>
              <a:t>”</a:t>
            </a:r>
            <a:r>
              <a:rPr lang="en-US" altLang="ja-JP" sz="1700" dirty="0"/>
              <a:t> systems.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analysis: beyond SQL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Map reduce and friends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2010s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SQL reloaded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front end to Map Reduce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Massively parallel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Multi-core main-memory databases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57350" y="2571750"/>
            <a:ext cx="58293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200" dirty="0">
                <a:effectLst/>
              </a:rPr>
              <a:t>End of Chapter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96250</TotalTime>
  <Words>2020</Words>
  <Application>Microsoft Office PowerPoint</Application>
  <PresentationFormat>On-screen Show (4:3)</PresentationFormat>
  <Paragraphs>304</Paragraphs>
  <Slides>37</Slides>
  <Notes>36</Notes>
  <HiddenSlides>5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1: Introduction</vt:lpstr>
      <vt:lpstr>Outline</vt:lpstr>
      <vt:lpstr>Database Systems</vt:lpstr>
      <vt:lpstr>Database Applications Examples</vt:lpstr>
      <vt:lpstr>Database Applications Examples (Cont.)</vt:lpstr>
      <vt:lpstr>Purpose of Database Systems</vt:lpstr>
      <vt:lpstr>Purpose of Database Systems (Cont.)</vt:lpstr>
      <vt:lpstr>University Database Example</vt:lpstr>
      <vt:lpstr>View of Data</vt:lpstr>
      <vt:lpstr>Data Models</vt:lpstr>
      <vt:lpstr>Relational Model</vt:lpstr>
      <vt:lpstr>A Sample Relational Database</vt:lpstr>
      <vt:lpstr>Levels of Abstraction</vt:lpstr>
      <vt:lpstr>View of Data</vt:lpstr>
      <vt:lpstr>Instances and Schemas</vt:lpstr>
      <vt:lpstr>Physical Data Independence </vt:lpstr>
      <vt:lpstr>Data Definition Language (DDL)</vt:lpstr>
      <vt:lpstr>Data Manipulation Language (DML)</vt:lpstr>
      <vt:lpstr>SQL Query Language</vt:lpstr>
      <vt:lpstr>Database Access from Application Program</vt:lpstr>
      <vt:lpstr>Database Design</vt:lpstr>
      <vt:lpstr>Database Engine</vt:lpstr>
      <vt:lpstr>Storage Manager</vt:lpstr>
      <vt:lpstr>Storage Manager (Cont.)</vt:lpstr>
      <vt:lpstr>Query Processor</vt:lpstr>
      <vt:lpstr>Query Processing</vt:lpstr>
      <vt:lpstr>Transaction Management </vt:lpstr>
      <vt:lpstr>Database Architecture</vt:lpstr>
      <vt:lpstr>Database Architecture  (Centralized/Shared-Memory)</vt:lpstr>
      <vt:lpstr>Database Applications</vt:lpstr>
      <vt:lpstr>Two-tier and three-tier architectures</vt:lpstr>
      <vt:lpstr>Database Users</vt:lpstr>
      <vt:lpstr>Database Administrator</vt:lpstr>
      <vt:lpstr>History of Database Systems</vt:lpstr>
      <vt:lpstr>History of Database Systems (Cont.)</vt:lpstr>
      <vt:lpstr>History of Database Systems (Cont.)</vt:lpstr>
      <vt:lpstr>End of Chapter 1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 Sudarshan</cp:lastModifiedBy>
  <cp:revision>458</cp:revision>
  <cp:lastPrinted>1999-06-28T19:27:31Z</cp:lastPrinted>
  <dcterms:created xsi:type="dcterms:W3CDTF">2009-12-21T15:40:22Z</dcterms:created>
  <dcterms:modified xsi:type="dcterms:W3CDTF">2019-09-10T08:23:19Z</dcterms:modified>
</cp:coreProperties>
</file>